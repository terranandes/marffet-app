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embeddedFontLst>
    <p:embeddedFont>
      <p:font typeface="Nuni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64E21E-CA1F-4D2F-9A9C-F4AB99723B74}">
  <a:tblStyle styleId="{D464E21E-CA1F-4D2F-9A9C-F4AB99723B7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Nunito-bold.fntdata"/><Relationship Id="rId10" Type="http://schemas.openxmlformats.org/officeDocument/2006/relationships/slide" Target="slides/slide4.xml"/><Relationship Id="rId32" Type="http://schemas.openxmlformats.org/officeDocument/2006/relationships/font" Target="fonts/Nunito-regular.fntdata"/><Relationship Id="rId13" Type="http://schemas.openxmlformats.org/officeDocument/2006/relationships/slide" Target="slides/slide7.xml"/><Relationship Id="rId35" Type="http://schemas.openxmlformats.org/officeDocument/2006/relationships/font" Target="fonts/Nunito-boldItalic.fntdata"/><Relationship Id="rId12" Type="http://schemas.openxmlformats.org/officeDocument/2006/relationships/slide" Target="slides/slide6.xml"/><Relationship Id="rId34" Type="http://schemas.openxmlformats.org/officeDocument/2006/relationships/font" Target="fonts/Nunito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a35183f34c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a35183f34c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a35183f34c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a35183f34c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a35183f34c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a35183f34c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a35183f34c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a35183f34c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13a57141c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13a57141c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a35183f34c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a35183f34c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a35183f34c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a35183f34c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a35183f34c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a35183f34c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a35183f34c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a35183f34c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a35183f34c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a35183f34c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a35183f34c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a35183f34c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a35183f34c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a35183f34c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a35183f34c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a35183f34c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680234699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680234699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6b9d712d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6b9d712d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adb774ddf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adb774ddf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a35183f34c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a35183f34c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a35183f34c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a35183f34c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22b5fc511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22b5fc511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22b5fc51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22b5fc51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68023469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68023469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7cb0fb8e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7cb0fb8e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62932b2487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62932b2487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adb774ddf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adb774ddf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moneybook.com.tw/" TargetMode="External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public.flourish.studio/visualisation/12575420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youtube.com/watch?v=M8kz6zWHgDg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rich01.com/what-is-security-lending/" TargetMode="External"/><Relationship Id="rId4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money101.com.tw/blog/%E8%82%A1%E7%A5%A8%E8%B3%AA%E6%8A%BC-%E8%82%A1%E7%A5%A8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火星人投資地球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2176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</a:t>
            </a:r>
            <a:endParaRPr/>
          </a:p>
        </p:txBody>
      </p:sp>
      <p:pic>
        <p:nvPicPr>
          <p:cNvPr id="135" name="Google Shape;13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3375" y="1926200"/>
            <a:ext cx="2030300" cy="19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8375" y="1796975"/>
            <a:ext cx="2105376" cy="154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4"/>
          <p:cNvSpPr txBox="1"/>
          <p:nvPr/>
        </p:nvSpPr>
        <p:spPr>
          <a:xfrm>
            <a:off x="3965725" y="959525"/>
            <a:ext cx="14313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宇宙證交所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2417925" y="4227825"/>
            <a:ext cx="51705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如果你從兩萬年前就買了地球, 而且持續再投入兩萬年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/>
          <p:nvPr>
            <p:ph type="title"/>
          </p:nvPr>
        </p:nvSpPr>
        <p:spPr>
          <a:xfrm>
            <a:off x="819150" y="2176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44" name="Google Shape;144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投資股票的本意與數學模型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淨值的算法與記帳自動化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甚麼是退休門檻與實現方法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/>
          <p:nvPr>
            <p:ph type="title"/>
          </p:nvPr>
        </p:nvSpPr>
        <p:spPr>
          <a:xfrm>
            <a:off x="2900525" y="2334325"/>
            <a:ext cx="3597600" cy="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投資股票的本意與數學模型</a:t>
            </a:r>
            <a:endParaRPr sz="3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/>
          <p:nvPr>
            <p:ph idx="1" type="body"/>
          </p:nvPr>
        </p:nvSpPr>
        <p:spPr>
          <a:xfrm>
            <a:off x="819150" y="881950"/>
            <a:ext cx="7505700" cy="19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我投資你, 你幫我賺錢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其實每年分不分股利給我不是重點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重點是膨脹率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第一年本金 1000,000, 每年再投入60000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第N+1年本金 = 第N年本金*(1+r)  //r=膨脹率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t/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模型 1: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https://www.moneycome.in/tool/compound_interest_comparison?stkCodes=2884,2330,5904</a:t>
            </a:r>
            <a:endParaRPr/>
          </a:p>
        </p:txBody>
      </p:sp>
      <p:pic>
        <p:nvPicPr>
          <p:cNvPr id="155" name="Google Shape;15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" y="3009400"/>
            <a:ext cx="8633974" cy="177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775" y="1898700"/>
            <a:ext cx="8608502" cy="2068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7850" y="567788"/>
            <a:ext cx="4095050" cy="400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571525" y="567800"/>
            <a:ext cx="10161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模型2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type="title"/>
          </p:nvPr>
        </p:nvSpPr>
        <p:spPr>
          <a:xfrm>
            <a:off x="2900525" y="2334325"/>
            <a:ext cx="3597600" cy="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淨值的算法與記帳自動化</a:t>
            </a:r>
            <a:endParaRPr sz="3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/>
          <p:nvPr>
            <p:ph type="title"/>
          </p:nvPr>
        </p:nvSpPr>
        <p:spPr>
          <a:xfrm>
            <a:off x="769750" y="2176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身價算法</a:t>
            </a:r>
            <a:endParaRPr/>
          </a:p>
        </p:txBody>
      </p:sp>
      <p:sp>
        <p:nvSpPr>
          <p:cNvPr id="177" name="Google Shape;177;p21"/>
          <p:cNvSpPr txBox="1"/>
          <p:nvPr>
            <p:ph idx="1" type="body"/>
          </p:nvPr>
        </p:nvSpPr>
        <p:spPr>
          <a:xfrm>
            <a:off x="819150" y="1058325"/>
            <a:ext cx="7505700" cy="3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連勝文有10棟帝寶, 當初一棟兩億買的, 現市價4億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當初房貸貸8成, 試問連勝文身價光帝寶是多少? 答案是 房子40億, 負債16億, 身價為24億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緊接著: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重貸市價8成,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請問: 正項的有哪些?是多少?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        負項的有哪些? 是多少?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        身價變為多少?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/>
          <p:nvPr>
            <p:ph type="title"/>
          </p:nvPr>
        </p:nvSpPr>
        <p:spPr>
          <a:xfrm>
            <a:off x="819150" y="3164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身價=淨值</a:t>
            </a:r>
            <a:endParaRPr/>
          </a:p>
        </p:txBody>
      </p:sp>
      <p:graphicFrame>
        <p:nvGraphicFramePr>
          <p:cNvPr id="183" name="Google Shape;183;p22"/>
          <p:cNvGraphicFramePr/>
          <p:nvPr/>
        </p:nvGraphicFramePr>
        <p:xfrm>
          <a:off x="917225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{D464E21E-CA1F-4D2F-9A9C-F4AB99723B74}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房子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股票&amp;現金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房貸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淨值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重貸前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重貸後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預期報酬率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+7%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20%?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-2.1%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4" name="Google Shape;184;p22"/>
          <p:cNvSpPr txBox="1"/>
          <p:nvPr/>
        </p:nvSpPr>
        <p:spPr>
          <a:xfrm>
            <a:off x="1058325" y="4056950"/>
            <a:ext cx="40641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淨值 = 資產 -負債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2"/>
          <p:cNvSpPr txBox="1"/>
          <p:nvPr/>
        </p:nvSpPr>
        <p:spPr>
          <a:xfrm>
            <a:off x="4529675" y="4219225"/>
            <a:ext cx="40641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建議: 有多少身價買多少房子 1:1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記帳自動化</a:t>
            </a:r>
            <a:endParaRPr/>
          </a:p>
        </p:txBody>
      </p:sp>
      <p:sp>
        <p:nvSpPr>
          <p:cNvPr id="191" name="Google Shape;191;p23"/>
          <p:cNvSpPr txBox="1"/>
          <p:nvPr>
            <p:ph idx="1" type="body"/>
          </p:nvPr>
        </p:nvSpPr>
        <p:spPr>
          <a:xfrm>
            <a:off x="819150" y="19907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APP(</a:t>
            </a:r>
            <a:r>
              <a:rPr lang="en"/>
              <a:t>非業配)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https://moneybook.com.tw/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3950" y="593700"/>
            <a:ext cx="2557877" cy="189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3"/>
          <p:cNvSpPr txBox="1"/>
          <p:nvPr/>
        </p:nvSpPr>
        <p:spPr>
          <a:xfrm>
            <a:off x="4162775" y="2977425"/>
            <a:ext cx="40641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火星人只在意淨值!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火星人只在意淨值!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火星人只在意淨值!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3"/>
          <p:cNvSpPr txBox="1"/>
          <p:nvPr/>
        </p:nvSpPr>
        <p:spPr>
          <a:xfrm>
            <a:off x="819150" y="2977425"/>
            <a:ext cx="24300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除了房子車子只能手動估價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/>
          <p:nvPr>
            <p:ph type="title"/>
          </p:nvPr>
        </p:nvSpPr>
        <p:spPr>
          <a:xfrm>
            <a:off x="2900525" y="2334325"/>
            <a:ext cx="3597600" cy="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甚麼是退休門檻與實現方法</a:t>
            </a:r>
            <a:endParaRPr sz="3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退休門檻</a:t>
            </a:r>
            <a:endParaRPr/>
          </a:p>
        </p:txBody>
      </p:sp>
      <p:sp>
        <p:nvSpPr>
          <p:cNvPr id="205" name="Google Shape;205;p2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如果我有一天淨值3000萬, 投資報酬率可以到20%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我每年有600萬可以使用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3000萬就是我的退休門檻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那麼當我有淨值3000萬, 我就可以宣告退休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20%</a:t>
            </a:r>
            <a:r>
              <a:rPr lang="en"/>
              <a:t>口袋名單</a:t>
            </a:r>
            <a:endParaRPr/>
          </a:p>
        </p:txBody>
      </p:sp>
      <p:pic>
        <p:nvPicPr>
          <p:cNvPr id="211" name="Google Shape;21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1325" y="358050"/>
            <a:ext cx="3672451" cy="4425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6"/>
          <p:cNvSpPr txBox="1"/>
          <p:nvPr/>
        </p:nvSpPr>
        <p:spPr>
          <a:xfrm>
            <a:off x="472725" y="2130775"/>
            <a:ext cx="40641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小技巧:   1. 除了房貸不能有其他負債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                2. 只買不賣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                3. 某檔極高交換某檔極低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                4. 沒了, 等退休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火星股 bar-chart-race</a:t>
            </a:r>
            <a:endParaRPr/>
          </a:p>
        </p:txBody>
      </p:sp>
      <p:sp>
        <p:nvSpPr>
          <p:cNvPr id="218" name="Google Shape;218;p2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https://public.flourish.studio/visualisation/12575420/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股票交換成本記法</a:t>
            </a:r>
            <a:endParaRPr/>
          </a:p>
        </p:txBody>
      </p:sp>
      <p:sp>
        <p:nvSpPr>
          <p:cNvPr id="224" name="Google Shape;224;p2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假設A/B股一開始各買100股, 成本100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一段時間後 A股價130, B股價70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賣掉A股23股值台幣2990, A成本記為 130, 股數剩77股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買進B股42股值1940, B成本記為(10000+1940)/(100+42) = 84.08…</a:t>
            </a:r>
            <a:r>
              <a:rPr lang="en"/>
              <a:t>, 股數增加為142股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萬一手中持股有一檔滅了怎麼辦</a:t>
            </a:r>
            <a:endParaRPr/>
          </a:p>
        </p:txBody>
      </p:sp>
      <p:sp>
        <p:nvSpPr>
          <p:cNvPr id="230" name="Google Shape;230;p2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假設你有50檔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滅了一檔 (-2%)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但其餘49檔一樣保持20%膨脹率 (20%*0.98 &gt;&gt; 2%)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無視滅掉的那一檔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所以交換這個動作不宜加大, 隨時保持平均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參加除權嗎?</a:t>
            </a:r>
            <a:endParaRPr/>
          </a:p>
        </p:txBody>
      </p:sp>
      <p:sp>
        <p:nvSpPr>
          <p:cNvPr id="236" name="Google Shape;236;p30"/>
          <p:cNvSpPr txBox="1"/>
          <p:nvPr/>
        </p:nvSpPr>
        <p:spPr>
          <a:xfrm>
            <a:off x="688625" y="3817250"/>
            <a:ext cx="69567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https://docs.google.com/spreadsheets/d/1VgVXZ02cbn6AOumdSAgvTjXv0OSAYwMFwkq6shvGZMw/edit?usp=sharing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7" name="Google Shape;23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275" y="1859075"/>
            <a:ext cx="8603451" cy="1712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總結</a:t>
            </a:r>
            <a:endParaRPr/>
          </a:p>
        </p:txBody>
      </p:sp>
      <p:sp>
        <p:nvSpPr>
          <p:cNvPr id="243" name="Google Shape;243;p3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除了房貸貸好貸滿, 不能有其他負債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房子隨著身價提高, 買更多的房子 (1:1)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記帳自動化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只在乎淨值是否達到3000萬 //淨值=資產-負債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當傻瓜別自作聰明, 你以為買低賣高, 實際上是追高殺低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時間到, 你自然就能退休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這世界上唯一能預測的東西</a:t>
            </a:r>
            <a:endParaRPr/>
          </a:p>
        </p:txBody>
      </p:sp>
      <p:sp>
        <p:nvSpPr>
          <p:cNvPr id="249" name="Google Shape;249;p3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https://www.youtube.com/watch?v=M8kz6zWHgDg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/>
          <p:nvPr>
            <p:ph type="title"/>
          </p:nvPr>
        </p:nvSpPr>
        <p:spPr>
          <a:xfrm>
            <a:off x="819150" y="2413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Bonus - </a:t>
            </a:r>
            <a:r>
              <a:rPr lang="en"/>
              <a:t>借卷</a:t>
            </a:r>
            <a:endParaRPr/>
          </a:p>
        </p:txBody>
      </p:sp>
      <p:sp>
        <p:nvSpPr>
          <p:cNvPr id="255" name="Google Shape;255;p33"/>
          <p:cNvSpPr txBox="1"/>
          <p:nvPr>
            <p:ph idx="1" type="body"/>
          </p:nvPr>
        </p:nvSpPr>
        <p:spPr>
          <a:xfrm>
            <a:off x="819150" y="873900"/>
            <a:ext cx="7505700" cy="3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恭喜你, 只買不賣火星股保證了你是人生勝利組, </a:t>
            </a:r>
            <a:r>
              <a:rPr lang="en" sz="1150">
                <a:solidFill>
                  <a:srgbClr val="05050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但借卷是你多得的bonus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https://rich01.com/what-is-security-lending/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借卷 (你是借出方)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長期借卷 (up to 16 % per year), 利息最高16%/每年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借入方拿來長期放空, 避險, 套利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短期借卷 (up to 7% per day), </a:t>
            </a:r>
            <a:r>
              <a:rPr lang="en"/>
              <a:t>利息最高7%/每天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借入方無卷放空漲停被咖空所以需要借卷</a:t>
            </a:r>
            <a:endParaRPr/>
          </a:p>
        </p:txBody>
      </p:sp>
      <p:pic>
        <p:nvPicPr>
          <p:cNvPr id="256" name="Google Shape;25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4325" y="3270845"/>
            <a:ext cx="4252376" cy="84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/>
          <p:nvPr>
            <p:ph type="title"/>
          </p:nvPr>
        </p:nvSpPr>
        <p:spPr>
          <a:xfrm>
            <a:off x="819150" y="2413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Bonus - 抵押</a:t>
            </a:r>
            <a:endParaRPr/>
          </a:p>
        </p:txBody>
      </p:sp>
      <p:sp>
        <p:nvSpPr>
          <p:cNvPr id="262" name="Google Shape;262;p34"/>
          <p:cNvSpPr txBox="1"/>
          <p:nvPr>
            <p:ph idx="1" type="body"/>
          </p:nvPr>
        </p:nvSpPr>
        <p:spPr>
          <a:xfrm>
            <a:off x="819150" y="873900"/>
            <a:ext cx="7505700" cy="3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https://www.money101.com.tw/blog/%E8%82%A1%E7%A5%A8%E8%B3%AA%E6%8A%BC-%E8%82%A1%E7%A5%A8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抵押股票給眷商, 借錢出來, 利息大約2.5%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借錢出來投資火星股, 火星股大約20%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5"/>
          <p:cNvSpPr txBox="1"/>
          <p:nvPr>
            <p:ph type="title"/>
          </p:nvPr>
        </p:nvSpPr>
        <p:spPr>
          <a:xfrm>
            <a:off x="819150" y="2413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Bonus - </a:t>
            </a:r>
            <a:r>
              <a:rPr lang="en"/>
              <a:t>理財型房貸</a:t>
            </a:r>
            <a:endParaRPr/>
          </a:p>
        </p:txBody>
      </p:sp>
      <p:sp>
        <p:nvSpPr>
          <p:cNvPr id="268" name="Google Shape;268;p35"/>
          <p:cNvSpPr txBox="1"/>
          <p:nvPr>
            <p:ph idx="1" type="body"/>
          </p:nvPr>
        </p:nvSpPr>
        <p:spPr>
          <a:xfrm>
            <a:off x="819150" y="873900"/>
            <a:ext cx="7505700" cy="3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把信貸貸出來繳100%房貸, 再借80%理財型房貸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可用於第二間以後的房貸, 銀行卡不到你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推薦美股ETFs list</a:t>
            </a:r>
            <a:endParaRPr/>
          </a:p>
        </p:txBody>
      </p:sp>
      <p:pic>
        <p:nvPicPr>
          <p:cNvPr id="274" name="Google Shape;27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700" y="1543350"/>
            <a:ext cx="3963527" cy="30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Q&amp;A</a:t>
            </a:r>
            <a:endParaRPr/>
          </a:p>
        </p:txBody>
      </p:sp>
      <p:sp>
        <p:nvSpPr>
          <p:cNvPr id="280" name="Google Shape;280;p3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